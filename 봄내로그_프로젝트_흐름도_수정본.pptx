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46c9df947d74f06" /><Relationship Type="http://schemas.openxmlformats.org/officeDocument/2006/relationships/extended-properties" Target="/docProps/app.xml" Id="R456fb61612544d6e" /><Relationship Type="http://schemas.openxmlformats.org/officeDocument/2006/relationships/officeDocument" Target="/ppt/presentation.xml" Id="R05d2c6677cf8496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1e4a1813f4d4b01"/>
  </p:sldMasterIdLst>
  <p:notesMasterIdLst>
    <p:notesMasterId xmlns:r="http://schemas.openxmlformats.org/officeDocument/2006/relationships" r:id="R85f9cc2e5cfc4f56"/>
  </p:notesMasterIdLst>
  <p:sldIdLst>
    <p:sldId xmlns:r="http://schemas.openxmlformats.org/officeDocument/2006/relationships" id="256" r:id="Ra1ea429979944c5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734479fa41049b0" /><Relationship Type="http://schemas.openxmlformats.org/officeDocument/2006/relationships/slideMaster" Target="/ppt/slideMasters/slideMaster1.xml" Id="R71e4a1813f4d4b01" /><Relationship Type="http://schemas.openxmlformats.org/officeDocument/2006/relationships/notesMaster" Target="/ppt/notesMasters/notesMaster1.xml" Id="R85f9cc2e5cfc4f56" /><Relationship Type="http://schemas.openxmlformats.org/officeDocument/2006/relationships/presProps" Target="/ppt/presProps.xml" Id="Rdecf0c79e9614535" /><Relationship Type="http://schemas.openxmlformats.org/officeDocument/2006/relationships/tableStyles" Target="/ppt/tableStyles.xml" Id="Ra7a5ff62afa64178" /><Relationship Type="http://schemas.openxmlformats.org/officeDocument/2006/relationships/slide" Target="/ppt/slides/slide1.xml" Id="Ra1ea429979944c5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15a8d14f1814d8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34c95d6650a45ec" /><Relationship Type="http://schemas.openxmlformats.org/officeDocument/2006/relationships/notesMaster" Target="/ppt/notesMasters/notesMaster1.xml" Id="Rff28dae74f45456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 README.md: page structure, restaurant exploration, map, detail, search, favorites, and routing flow.</a:t>
            </a:r>
          </a:p>
          <a:p xmlns:a="http://schemas.openxmlformats.org/drawingml/2006/main">
            <a:r>
              <a:t>- Repository docs/auth-guide.md: authentication cookie, profile menu, and My Page linkage.</a:t>
            </a:r>
          </a:p>
          <a:p xmlns:a="http://schemas.openxmlformats.org/drawingml/2006/main">
            <a:r>
              <a:t>- User-provided screenshot: green border, rounded node styling, and overall visual direction.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57f4843b45494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3d2ba788e0c4d57" /><Relationship Type="http://schemas.openxmlformats.org/officeDocument/2006/relationships/slideLayout" Target="/ppt/slideLayouts/slideLayout1.xml" Id="R6d96d560a345470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d96d560a345470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6c31e3654e4883" /><Relationship Type="http://schemas.openxmlformats.org/officeDocument/2006/relationships/notesSlide" Target="/ppt/notesSlides/notesSlide1.xml" Id="R278efb8b64514c7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green-frame">
            <a:extLst xmlns:a="http://schemas.openxmlformats.org/drawingml/2006/main">
              <a:ext uri="{FF2B5EF4-FFF2-40B4-BE49-F238E27FC236}">
                <a16:creationId xmlns:a16="http://schemas.microsoft.com/office/drawing/2014/main" id="{F48A7101-D821-4381-916D-88ECA3CEB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228600"/>
            <a:ext cx="116967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0">
            <a:solidFill>
              <a:srgbClr val="86C94A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9BB3F1A-609E-4B27-BD78-61C2DC8D9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7351B"/>
                </a:solidFill>
              </a:defRPr>
            </a:pPr>
            <a:r>
              <a:rPr sz="2550" b="1">
                <a:solidFill>
                  <a:srgbClr val="17351B"/>
                </a:solidFill>
              </a:rPr>
              <a:t>봄내로그 사용자 흐름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E849DC22-7880-4E40-BCF3-42C6B5B2E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952500"/>
            <a:ext cx="647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56705A"/>
                </a:solidFill>
              </a:defRPr>
            </a:pPr>
            <a:r>
              <a:rPr sz="1275">
                <a:solidFill>
                  <a:srgbClr val="56705A"/>
                </a:solidFill>
              </a:rPr>
              <a:t>탐색은 상세 정보로 이어지고, 사용자 기능은 필요한 순간에 연결됩니다</a:t>
            </a:r>
          </a:p>
        </p:txBody>
      </p:sp>
      <p:sp>
        <p:nvSpPr>
          <p:cNvPr id="4" name="home">
            <a:extLst xmlns:a="http://schemas.openxmlformats.org/drawingml/2006/main">
              <a:ext uri="{FF2B5EF4-FFF2-40B4-BE49-F238E27FC236}">
                <a16:creationId xmlns:a16="http://schemas.microsoft.com/office/drawing/2014/main" id="{B248E09C-173E-4A05-A224-DF937FD01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428750"/>
            <a:ext cx="20002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2F8C7"/>
          </a:solidFill>
          <a:ln xmlns:a="http://schemas.openxmlformats.org/drawingml/2006/main" w="23813">
            <a:solidFill>
              <a:srgbClr val="77B9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351B"/>
                </a:solidFill>
              </a:defRPr>
            </a:pPr>
            <a:r>
              <a:rPr sz="1500" b="1">
                <a:solidFill>
                  <a:srgbClr val="17351B"/>
                </a:solidFill>
              </a:rPr>
              <a:t>메인 화면</a:t>
            </a:r>
          </a:p>
        </p:txBody>
      </p:sp>
      <p:sp>
        <p:nvSpPr>
          <p:cNvPr id="5" name="search-region">
            <a:extLst xmlns:a="http://schemas.openxmlformats.org/drawingml/2006/main">
              <a:ext uri="{FF2B5EF4-FFF2-40B4-BE49-F238E27FC236}">
                <a16:creationId xmlns:a16="http://schemas.microsoft.com/office/drawing/2014/main" id="{4F13D043-7B5F-4F69-BBEA-A8FF3CB5D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647950"/>
            <a:ext cx="20002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9BCB7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351B"/>
                </a:solidFill>
              </a:defRPr>
            </a:pPr>
            <a:r>
              <a:rPr sz="1500" b="1">
                <a:solidFill>
                  <a:srgbClr val="17351B"/>
                </a:solidFill>
              </a:rPr>
              <a:t>검색 · 지역 선택</a:t>
            </a:r>
          </a:p>
        </p:txBody>
      </p:sp>
      <p:sp>
        <p:nvSpPr>
          <p:cNvPr id="6" name="restaurant-explorer">
            <a:extLst xmlns:a="http://schemas.openxmlformats.org/drawingml/2006/main">
              <a:ext uri="{FF2B5EF4-FFF2-40B4-BE49-F238E27FC236}">
                <a16:creationId xmlns:a16="http://schemas.microsoft.com/office/drawing/2014/main" id="{6D881E26-0F61-4145-9240-8776EB1A4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647950"/>
            <a:ext cx="20002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6F2B7"/>
          </a:solidFill>
          <a:ln xmlns:a="http://schemas.openxmlformats.org/drawingml/2006/main" w="19050">
            <a:solidFill>
              <a:srgbClr val="5FA33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351B"/>
                </a:solidFill>
              </a:defRPr>
            </a:pPr>
            <a:r>
              <a:rPr sz="1500" b="1">
                <a:solidFill>
                  <a:srgbClr val="17351B"/>
                </a:solidFill>
              </a:rPr>
              <a:t>맛집 탐색</a:t>
            </a:r>
          </a:p>
        </p:txBody>
      </p:sp>
      <p:sp>
        <p:nvSpPr>
          <p:cNvPr id="7" name="account">
            <a:extLst xmlns:a="http://schemas.openxmlformats.org/drawingml/2006/main">
              <a:ext uri="{FF2B5EF4-FFF2-40B4-BE49-F238E27FC236}">
                <a16:creationId xmlns:a16="http://schemas.microsoft.com/office/drawing/2014/main" id="{14189E99-86DA-4DC2-AAB7-718B7AB57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47950"/>
            <a:ext cx="20002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0F8E7"/>
          </a:solidFill>
          <a:ln xmlns:a="http://schemas.openxmlformats.org/drawingml/2006/main" w="19050">
            <a:solidFill>
              <a:srgbClr val="B2CF9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34503A"/>
                </a:solidFill>
              </a:defRPr>
            </a:pPr>
            <a:r>
              <a:rPr sz="1275" b="1">
                <a:solidFill>
                  <a:srgbClr val="34503A"/>
                </a:solidFill>
              </a:rPr>
              <a:t>로그인 · 회원가입</a:t>
            </a:r>
          </a:p>
        </p:txBody>
      </p:sp>
      <p:sp>
        <p:nvSpPr>
          <p:cNvPr id="8" name="list-map">
            <a:extLst xmlns:a="http://schemas.openxmlformats.org/drawingml/2006/main">
              <a:ext uri="{FF2B5EF4-FFF2-40B4-BE49-F238E27FC236}">
                <a16:creationId xmlns:a16="http://schemas.microsoft.com/office/drawing/2014/main" id="{A10DDF39-20C3-4EEB-A872-747BBD2D2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829050"/>
            <a:ext cx="20002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9BCB7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351B"/>
                </a:solidFill>
              </a:defRPr>
            </a:pPr>
            <a:r>
              <a:rPr sz="1500" b="1">
                <a:solidFill>
                  <a:srgbClr val="17351B"/>
                </a:solidFill>
              </a:rPr>
              <a:t>식당 목록 · 지도</a:t>
            </a:r>
          </a:p>
        </p:txBody>
      </p:sp>
      <p:sp>
        <p:nvSpPr>
          <p:cNvPr id="9" name="service-info">
            <a:extLst xmlns:a="http://schemas.openxmlformats.org/drawingml/2006/main">
              <a:ext uri="{FF2B5EF4-FFF2-40B4-BE49-F238E27FC236}">
                <a16:creationId xmlns:a16="http://schemas.microsoft.com/office/drawing/2014/main" id="{8A1B109D-39A4-4105-A40D-D1D56F733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447800"/>
            <a:ext cx="17145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0F8E7"/>
          </a:solidFill>
          <a:ln xmlns:a="http://schemas.openxmlformats.org/drawingml/2006/main" w="19050">
            <a:solidFill>
              <a:srgbClr val="B2CF9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34503A"/>
                </a:solidFill>
              </a:defRPr>
            </a:pPr>
            <a:r>
              <a:rPr sz="1275" b="1">
                <a:solidFill>
                  <a:srgbClr val="34503A"/>
                </a:solidFill>
              </a:rPr>
              <a:t>서비스 소개</a:t>
            </a:r>
          </a:p>
          <a:p xmlns:a="http://schemas.openxmlformats.org/drawingml/2006/main">
            <a:pPr algn="ctr">
              <a:defRPr sz="1275" b="1">
                <a:solidFill>
                  <a:srgbClr val="34503A"/>
                </a:solidFill>
              </a:defRPr>
            </a:pPr>
            <a:r>
              <a:rPr sz="1275" b="1">
                <a:solidFill>
                  <a:srgbClr val="34503A"/>
                </a:solidFill>
              </a:rPr>
              <a:t>소식 · 공지</a:t>
            </a:r>
          </a:p>
        </p:txBody>
      </p:sp>
      <p:sp>
        <p:nvSpPr>
          <p:cNvPr id="10" name="mypage">
            <a:extLst xmlns:a="http://schemas.openxmlformats.org/drawingml/2006/main">
              <a:ext uri="{FF2B5EF4-FFF2-40B4-BE49-F238E27FC236}">
                <a16:creationId xmlns:a16="http://schemas.microsoft.com/office/drawing/2014/main" id="{BB2AA18B-085F-4DC9-AF2F-9EE09C557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000500"/>
            <a:ext cx="18097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0F8E7"/>
          </a:solidFill>
          <a:ln xmlns:a="http://schemas.openxmlformats.org/drawingml/2006/main" w="19050">
            <a:solidFill>
              <a:srgbClr val="B2CF9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34503A"/>
                </a:solidFill>
              </a:defRPr>
            </a:pPr>
            <a:r>
              <a:rPr sz="1275" b="1">
                <a:solidFill>
                  <a:srgbClr val="34503A"/>
                </a:solidFill>
              </a:rPr>
              <a:t>마이페이지</a:t>
            </a:r>
          </a:p>
        </p:txBody>
      </p:sp>
      <p:sp>
        <p:nvSpPr>
          <p:cNvPr id="11" name="restaurant-detail">
            <a:extLst xmlns:a="http://schemas.openxmlformats.org/drawingml/2006/main">
              <a:ext uri="{FF2B5EF4-FFF2-40B4-BE49-F238E27FC236}">
                <a16:creationId xmlns:a16="http://schemas.microsoft.com/office/drawing/2014/main" id="{B88E1E63-0C4B-4C19-8D1F-1CAF302B9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5010150"/>
            <a:ext cx="20002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6F2B7"/>
          </a:solidFill>
          <a:ln xmlns:a="http://schemas.openxmlformats.org/drawingml/2006/main" w="19050">
            <a:solidFill>
              <a:srgbClr val="5FA33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351B"/>
                </a:solidFill>
              </a:defRPr>
            </a:pPr>
            <a:r>
              <a:rPr sz="1500" b="1">
                <a:solidFill>
                  <a:srgbClr val="17351B"/>
                </a:solidFill>
              </a:rPr>
              <a:t>식당 상세 정보</a:t>
            </a:r>
          </a:p>
        </p:txBody>
      </p:sp>
      <p:sp>
        <p:nvSpPr>
          <p:cNvPr id="12" name="detail-actions">
            <a:extLst xmlns:a="http://schemas.openxmlformats.org/drawingml/2006/main">
              <a:ext uri="{FF2B5EF4-FFF2-40B4-BE49-F238E27FC236}">
                <a16:creationId xmlns:a16="http://schemas.microsoft.com/office/drawing/2014/main" id="{EE1C260A-6E19-444C-B31A-771763FFC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962650"/>
            <a:ext cx="3333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2F8C7"/>
          </a:solidFill>
          <a:ln xmlns:a="http://schemas.openxmlformats.org/drawingml/2006/main" w="23813">
            <a:solidFill>
              <a:srgbClr val="77B9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351B"/>
                </a:solidFill>
              </a:defRPr>
            </a:pPr>
            <a:r>
              <a:rPr sz="1500" b="1">
                <a:solidFill>
                  <a:srgbClr val="17351B"/>
                </a:solidFill>
              </a:rPr>
              <a:t>길찾기 · 리뷰 · 즐겨찾기</a:t>
            </a:r>
          </a:p>
        </p:txBody>
      </p:sp>
      <p:cxnSp>
        <p:nvCxnSpPr>
          <p:cNvPr id="35" name=""/>
          <p:cNvCxnSpPr>
            <a:stCxn xmlns:a="http://schemas.openxmlformats.org/drawingml/2006/main" id="4" idx="2"/>
            <a:endCxn xmlns:a="http://schemas.openxmlformats.org/drawingml/2006/main" id="5" idx="0"/>
          </p:cNvCxnSpPr>
          <p:nvPr/>
        </p:nvCxnSpPr>
        <p:spPr>
          <a:xfrm xmlns:a="http://schemas.openxmlformats.org/drawingml/2006/main" flipH="1">
            <a:off x="3714750" y="2095500"/>
            <a:ext cx="2381250" cy="5524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3813">
            <a:solidFill>
              <a:srgbClr val="5A7B5E"/>
            </a:solidFill>
            <a:prstDash val="solid"/>
            <a:tailEnd type="arrow" w="med" len="med"/>
          </a:ln>
        </p:spPr>
      </p:cxnSp>
      <p:cxnSp>
        <p:nvCxnSpPr>
          <p:cNvPr id="36" name=""/>
          <p:cNvCxnSpPr>
            <a:stCxn xmlns:a="http://schemas.openxmlformats.org/drawingml/2006/main" id="4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6096000" y="2095500"/>
            <a:ext cx="0" cy="55245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5A7B5E"/>
            </a:solidFill>
            <a:prstDash val="solid"/>
            <a:tailEnd type="arrow" w="med" len="med"/>
          </a:ln>
        </p:spPr>
      </p:cxnSp>
      <p:cxnSp>
        <p:nvCxnSpPr>
          <p:cNvPr id="37" name=""/>
          <p:cNvCxnSpPr>
            <a:stCxn xmlns:a="http://schemas.openxmlformats.org/drawingml/2006/main" id="4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6096000" y="2095500"/>
            <a:ext cx="3286125" cy="5524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9AB29C"/>
            </a:solidFill>
            <a:prstDash val="solid"/>
            <a:tailEnd type="arrow" w="med" len="med"/>
          </a:ln>
        </p:spPr>
      </p:cxnSp>
      <p:cxnSp>
        <p:nvCxnSpPr>
          <p:cNvPr id="38" name=""/>
          <p:cNvCxnSpPr>
            <a:stCxn xmlns:a="http://schemas.openxmlformats.org/drawingml/2006/main" id="4" idx="1"/>
            <a:endCxn xmlns:a="http://schemas.openxmlformats.org/drawingml/2006/main" id="9" idx="3"/>
          </p:cNvCxnSpPr>
          <p:nvPr/>
        </p:nvCxnSpPr>
        <p:spPr>
          <a:xfrm xmlns:a="http://schemas.openxmlformats.org/drawingml/2006/main" flipH="1">
            <a:off x="3000375" y="1762125"/>
            <a:ext cx="2095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AB29C"/>
            </a:solidFill>
            <a:prstDash val="solid"/>
            <a:tailEnd type="arrow" w="med" len="med"/>
          </a:ln>
        </p:spPr>
      </p:cxnSp>
      <p:cxnSp>
        <p:nvCxnSpPr>
          <p:cNvPr id="39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714875" y="296227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5A7B5E"/>
            </a:solidFill>
            <a:prstDash val="solid"/>
            <a:tailEnd type="arrow" w="med" len="med"/>
          </a:ln>
        </p:spPr>
      </p:cxnSp>
      <p:cxnSp>
        <p:nvCxnSpPr>
          <p:cNvPr id="40" name=""/>
          <p:cNvCxnSpPr>
            <a:stCxn xmlns:a="http://schemas.openxmlformats.org/drawingml/2006/main" id="6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6096000" y="3276600"/>
            <a:ext cx="0" cy="55245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5A7B5E"/>
            </a:solidFill>
            <a:prstDash val="solid"/>
            <a:tailEnd type="arrow" w="med" len="med"/>
          </a:ln>
        </p:spPr>
      </p:cxnSp>
      <p:cxnSp>
        <p:nvCxnSpPr>
          <p:cNvPr id="41" name=""/>
          <p:cNvCxnSpPr>
            <a:stCxn xmlns:a="http://schemas.openxmlformats.org/drawingml/2006/main" id="8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6096000" y="4457700"/>
            <a:ext cx="0" cy="55245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5A7B5E"/>
            </a:solidFill>
            <a:prstDash val="solid"/>
            <a:tailEnd type="arrow" w="med" len="med"/>
          </a:ln>
        </p:spPr>
      </p:cxnSp>
      <p:cxnSp>
        <p:nvCxnSpPr>
          <p:cNvPr id="42" name=""/>
          <p:cNvCxnSpPr>
            <a:stCxn xmlns:a="http://schemas.openxmlformats.org/drawingml/2006/main" id="11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6096000" y="5638800"/>
            <a:ext cx="0" cy="32385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5A7B5E"/>
            </a:solidFill>
            <a:prstDash val="solid"/>
            <a:tailEnd type="arrow" w="med" len="med"/>
          </a:ln>
        </p:spPr>
      </p:cxnSp>
      <p:cxnSp>
        <p:nvCxnSpPr>
          <p:cNvPr id="43" name=""/>
          <p:cNvCxnSpPr>
            <a:stCxn xmlns:a="http://schemas.openxmlformats.org/drawingml/2006/main" id="7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9382125" y="3276600"/>
            <a:ext cx="952500" cy="7239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9AB29C"/>
            </a:solidFill>
            <a:prstDash val="solid"/>
            <a:tailEnd type="arrow" w="med" len="med"/>
          </a:ln>
        </p:spPr>
      </p:cxnSp>
      <p:cxnSp>
        <p:nvCxnSpPr>
          <p:cNvPr id="44" name=""/>
          <p:cNvCxnSpPr>
            <a:stCxn xmlns:a="http://schemas.openxmlformats.org/drawingml/2006/main" id="10" idx="1"/>
            <a:endCxn xmlns:a="http://schemas.openxmlformats.org/drawingml/2006/main" id="11" idx="3"/>
          </p:cNvCxnSpPr>
          <p:nvPr/>
        </p:nvCxnSpPr>
        <p:spPr>
          <a:xfrm xmlns:a="http://schemas.openxmlformats.org/drawingml/2006/main" flipH="1">
            <a:off x="7096125" y="4362450"/>
            <a:ext cx="2333625" cy="9620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9AB29C"/>
            </a:solidFill>
            <a:prstDash val="solid"/>
            <a:tailEnd type="arrow" w="med" len="med"/>
          </a:ln>
        </p:spPr>
      </p:cxnSp>
    </p:spTree>
    <p:extLst>
      <p:ext uri="{BB962C8B-B14F-4D97-AF65-F5344CB8AC3E}">
        <p14:creationId xmlns:p14="http://schemas.microsoft.com/office/powerpoint/2010/main" val="20370243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2026-08-28T01:59:33.0660000Z</dcterms:created>
  <dcterms:modified xsi:type="dcterms:W3CDTF">2026-08-28T01:59:33.0660000Z</dcterms:modified>
</coreProperties>
</file>